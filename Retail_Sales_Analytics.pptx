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51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D2638-E702-45F3-AD6C-F8619E49567B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5371E-767A-44BB-AA3C-352B5D97A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67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5371E-767A-44BB-AA3C-352B5D97A0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34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17867920333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00" y="0"/>
            <a:ext cx="1084849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1000245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04" y="0"/>
            <a:ext cx="9075943" cy="6446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10002453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861" y="0"/>
            <a:ext cx="8786029" cy="6446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10002453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351"/>
            <a:ext cx="11731752" cy="56443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10002453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40" y="0"/>
            <a:ext cx="10384471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10002453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836" y="0"/>
            <a:ext cx="6810078" cy="6446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384048"/>
            <a:ext cx="658368" cy="502920"/>
          </a:xfrm>
          <a:prstGeom prst="roundRect">
            <a:avLst/>
          </a:prstGeom>
          <a:solidFill>
            <a:srgbClr val="0A2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84048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2352"/>
                </a:solidFill>
                <a:latin typeface="Aptos Display"/>
              </a:defRPr>
            </a:pPr>
            <a:r>
              <a:t>EXCEL DATA CLEANING – DETAILED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6291072"/>
            <a:ext cx="566928" cy="347472"/>
          </a:xfrm>
          <a:prstGeom prst="roundRect">
            <a:avLst/>
          </a:prstGeom>
          <a:solidFill>
            <a:srgbClr val="0A2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10972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B37"/>
                </a:solidFill>
              </a:defRPr>
            </a:pPr>
            <a:r>
              <a:t>Before analysis, the retail dataset was checked, cleaned and standardized in Excel to improve accuracy and consistency.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5661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58952" y="2057400"/>
            <a:ext cx="438912" cy="438912"/>
          </a:xfrm>
          <a:prstGeom prst="ellipse">
            <a:avLst/>
          </a:prstGeom>
          <a:solidFill>
            <a:srgbClr val="1C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011679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352"/>
                </a:solidFill>
              </a:defRPr>
            </a:pPr>
            <a:r>
              <a:t>Remove duplicates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32887"/>
            <a:ext cx="3108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232B37"/>
                </a:solidFill>
              </a:defRPr>
            </a:pPr>
            <a:r>
              <a:t>Checked Order ID and other key fields for duplicate records using Data → Remove Duplicates.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874519"/>
            <a:ext cx="35661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480559" y="2057400"/>
            <a:ext cx="438912" cy="438912"/>
          </a:xfrm>
          <a:prstGeom prst="ellipse">
            <a:avLst/>
          </a:prstGeom>
          <a:solidFill>
            <a:srgbClr val="1C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011679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352"/>
                </a:solidFill>
              </a:defRPr>
            </a:pPr>
            <a:r>
              <a:t>Handle missing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532887"/>
            <a:ext cx="3108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232B37"/>
                </a:solidFill>
              </a:defRPr>
            </a:pPr>
            <a:r>
              <a:t>Used filters to identify blanks. Important missing values were corrected where possible; unnecessary incomplete rows were removed.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874519"/>
            <a:ext cx="35661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02167" y="2057400"/>
            <a:ext cx="438912" cy="438912"/>
          </a:xfrm>
          <a:prstGeom prst="ellipse">
            <a:avLst/>
          </a:prstGeom>
          <a:solidFill>
            <a:srgbClr val="1C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7" y="2011679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352"/>
                </a:solidFill>
              </a:defRPr>
            </a:pPr>
            <a:r>
              <a:t>Check data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532887"/>
            <a:ext cx="3108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232B37"/>
                </a:solidFill>
              </a:defRPr>
            </a:pPr>
            <a:r>
              <a:t>Verified Order Date as Date, Quantity as Number, Unit Price/Sales/Profit as numeric and IDs as consistent text/number fields.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337560"/>
            <a:ext cx="35661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58952" y="3520440"/>
            <a:ext cx="438912" cy="438912"/>
          </a:xfrm>
          <a:prstGeom prst="ellipse">
            <a:avLst/>
          </a:prstGeom>
          <a:solidFill>
            <a:srgbClr val="1C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3474720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352"/>
                </a:solidFill>
              </a:defRPr>
            </a:pPr>
            <a:r>
              <a:t>Standardize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95928"/>
            <a:ext cx="3108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232B37"/>
                </a:solidFill>
              </a:defRPr>
            </a:pPr>
            <a:r>
              <a:t>Cleaned inconsistent names and categories using TRIM, CLEAN and Find &amp; Replace where required.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337560"/>
            <a:ext cx="35661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480559" y="3520440"/>
            <a:ext cx="438912" cy="438912"/>
          </a:xfrm>
          <a:prstGeom prst="ellipse">
            <a:avLst/>
          </a:prstGeom>
          <a:solidFill>
            <a:srgbClr val="1C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474720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352"/>
                </a:solidFill>
              </a:defRPr>
            </a:pPr>
            <a:r>
              <a:t>Validate values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3995928"/>
            <a:ext cx="3108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232B37"/>
                </a:solidFill>
              </a:defRPr>
            </a:pPr>
            <a:r>
              <a:t>Checked negative/zero quantities, unusual prices and sales/profit values using filters and conditional formatting.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37575" y="3337560"/>
            <a:ext cx="35661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202167" y="3520440"/>
            <a:ext cx="438912" cy="438912"/>
          </a:xfrm>
          <a:prstGeom prst="ellipse">
            <a:avLst/>
          </a:prstGeom>
          <a:solidFill>
            <a:srgbClr val="1C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0807" y="3474720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352"/>
                </a:solidFill>
              </a:defRPr>
            </a:pPr>
            <a:r>
              <a:t>Format the dataset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5" y="3995928"/>
            <a:ext cx="3108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232B37"/>
                </a:solidFill>
              </a:defRPr>
            </a:pPr>
            <a:r>
              <a:t>Converted the range to an Excel Table, applied clear headers and consistent number/date formatting.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0" y="4800600"/>
            <a:ext cx="35661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633472" y="4983480"/>
            <a:ext cx="438912" cy="438912"/>
          </a:xfrm>
          <a:prstGeom prst="ellipse">
            <a:avLst/>
          </a:prstGeom>
          <a:solidFill>
            <a:srgbClr val="1C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82112" y="4937760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352"/>
                </a:solidFill>
              </a:defRPr>
            </a:pPr>
            <a:r>
              <a:t>Create calculated fields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5458968"/>
            <a:ext cx="3108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232B37"/>
                </a:solidFill>
              </a:defRPr>
            </a:pPr>
            <a:r>
              <a:t>Created useful fields such as Month, Year and derived metrics needed for PivotTables and dashboard analysis.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800600"/>
            <a:ext cx="356616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28231" y="4983480"/>
            <a:ext cx="438912" cy="438912"/>
          </a:xfrm>
          <a:prstGeom prst="ellipse">
            <a:avLst/>
          </a:prstGeom>
          <a:solidFill>
            <a:srgbClr val="1C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76872" y="4937760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352"/>
                </a:solidFill>
              </a:defRPr>
            </a:pPr>
            <a:r>
              <a:t>Final quality 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458968"/>
            <a:ext cx="3108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232B37"/>
                </a:solidFill>
              </a:defRPr>
            </a:pPr>
            <a:r>
              <a:t>Confirmed the cleaned table had consistent columns, no unexpected blanks/duplicates and was ready for Power BI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384048"/>
            <a:ext cx="658368" cy="502920"/>
          </a:xfrm>
          <a:prstGeom prst="roundRect">
            <a:avLst/>
          </a:prstGeom>
          <a:solidFill>
            <a:srgbClr val="0A2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2352"/>
                </a:solidFill>
                <a:latin typeface="Aptos Display"/>
              </a:defRPr>
            </a:pPr>
            <a:r>
              <a:t>RETAIL SALES ANALYTICS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6291072"/>
            <a:ext cx="566928" cy="347472"/>
          </a:xfrm>
          <a:prstGeom prst="roundRect">
            <a:avLst/>
          </a:prstGeom>
          <a:solidFill>
            <a:srgbClr val="0A2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11201400" cy="48920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0002453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25" y="1207008"/>
            <a:ext cx="10321388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035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978"/>
                </a:solidFill>
              </a:defRPr>
            </a:pPr>
            <a:r>
              <a:t>Interactive Power BI dashboard with KPI cards, slicers, trends, category analysis, city analysis and product details.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10002453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017" y="0"/>
            <a:ext cx="5651718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384048"/>
            <a:ext cx="658368" cy="502920"/>
          </a:xfrm>
          <a:prstGeom prst="roundRect">
            <a:avLst/>
          </a:prstGeom>
          <a:solidFill>
            <a:srgbClr val="0A2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2352"/>
                </a:solidFill>
                <a:latin typeface="Aptos Display"/>
              </a:defRPr>
            </a:pPr>
            <a:r>
              <a:t>BUSINESS RECOMMENDATIONS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6291072"/>
            <a:ext cx="566928" cy="347472"/>
          </a:xfrm>
          <a:prstGeom prst="roundRect">
            <a:avLst/>
          </a:prstGeom>
          <a:solidFill>
            <a:srgbClr val="0A2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5440680" cy="13533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58952" y="1399032"/>
            <a:ext cx="420624" cy="420624"/>
          </a:xfrm>
          <a:prstGeom prst="ellipse">
            <a:avLst/>
          </a:prstGeom>
          <a:solidFill>
            <a:srgbClr val="1C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89888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352"/>
                </a:solidFill>
              </a:defRPr>
            </a:pPr>
            <a:r>
              <a:t>Strengthen top 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92808"/>
            <a:ext cx="4983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32B37"/>
                </a:solidFill>
              </a:defRPr>
            </a:pPr>
            <a:r>
              <a:t>Prioritize inventory, promotions and visibility for high-performing categories such as Clothing.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5440680" cy="13533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36792" y="1399032"/>
            <a:ext cx="420624" cy="420624"/>
          </a:xfrm>
          <a:prstGeom prst="ellipse">
            <a:avLst/>
          </a:prstGeom>
          <a:solidFill>
            <a:srgbClr val="1C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389888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352"/>
                </a:solidFill>
              </a:defRPr>
            </a:pPr>
            <a:r>
              <a:t>Focus on high-value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92808"/>
            <a:ext cx="4983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32B37"/>
                </a:solidFill>
              </a:defRPr>
            </a:pPr>
            <a:r>
              <a:t>Use customer segmentation and targeted offers to retain the strongest revenue contributors.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880360"/>
            <a:ext cx="5440680" cy="13533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58952" y="3044952"/>
            <a:ext cx="420624" cy="420624"/>
          </a:xfrm>
          <a:prstGeom prst="ellipse">
            <a:avLst/>
          </a:prstGeom>
          <a:solidFill>
            <a:srgbClr val="1C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035808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352"/>
                </a:solidFill>
              </a:defRPr>
            </a:pPr>
            <a:r>
              <a:t>Plan for peak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38728"/>
            <a:ext cx="4983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32B37"/>
                </a:solidFill>
              </a:defRPr>
            </a:pPr>
            <a:r>
              <a:t>Increase stock availability and campaign readiness before November and December demand peaks.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80360"/>
            <a:ext cx="5440680" cy="13533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36792" y="3044952"/>
            <a:ext cx="420624" cy="420624"/>
          </a:xfrm>
          <a:prstGeom prst="ellipse">
            <a:avLst/>
          </a:prstGeom>
          <a:solidFill>
            <a:srgbClr val="1C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035808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352"/>
                </a:solidFill>
              </a:defRPr>
            </a:pPr>
            <a:r>
              <a:t>Optimize regional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38728"/>
            <a:ext cx="4983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32B37"/>
                </a:solidFill>
              </a:defRPr>
            </a:pPr>
            <a:r>
              <a:t>Allocate inventory and marketing budgets toward high-sales cities while testing growth opportunities elsewhere.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4572000"/>
            <a:ext cx="5440680" cy="13533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547872" y="4736592"/>
            <a:ext cx="420624" cy="420624"/>
          </a:xfrm>
          <a:prstGeom prst="ellipse">
            <a:avLst/>
          </a:prstGeom>
          <a:solidFill>
            <a:srgbClr val="1C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727448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352"/>
                </a:solidFill>
              </a:defRPr>
            </a:pPr>
            <a:r>
              <a:t>Monitor profit, not only sales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5230368"/>
            <a:ext cx="4983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32B37"/>
                </a:solidFill>
              </a:defRPr>
            </a:pPr>
            <a:r>
              <a:t>Track margin alongside revenue so promotions improve profitable growth rather than volume alone.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6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384048"/>
            <a:ext cx="658368" cy="502920"/>
          </a:xfrm>
          <a:prstGeom prst="roundRect">
            <a:avLst/>
          </a:prstGeom>
          <a:solidFill>
            <a:srgbClr val="0A2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2352"/>
                </a:solidFill>
                <a:latin typeface="Aptos Display"/>
              </a:defRPr>
            </a:pPr>
            <a:r>
              <a:t>LEARNING &amp; PROJECT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6291072"/>
            <a:ext cx="566928" cy="347472"/>
          </a:xfrm>
          <a:prstGeom prst="roundRect">
            <a:avLst/>
          </a:prstGeom>
          <a:solidFill>
            <a:srgbClr val="0A2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5394960" cy="4663440"/>
          </a:xfrm>
          <a:prstGeom prst="roundRect">
            <a:avLst/>
          </a:prstGeom>
          <a:solidFill>
            <a:srgbClr val="F7F9FD"/>
          </a:solidFill>
          <a:ln>
            <a:solidFill>
              <a:srgbClr val="DC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2352"/>
                </a:solidFill>
              </a:defRPr>
            </a:pPr>
            <a:r>
              <a:t>Technical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</a:defRPr>
            </a:pPr>
            <a:r>
              <a:t>• Excel data cleaning, validation, formatting and PivotTable analysis.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</a:defRPr>
            </a:pPr>
            <a:r>
              <a:t>• Relational data modelling using Customers, Orders, Products and OrderDetails.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</a:defRPr>
            </a:pPr>
            <a:r>
              <a:t>• Power BI data transformation, DAX measures, slicers and interactive visuals.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</a:defRPr>
            </a:pPr>
            <a:r>
              <a:t>• KPI design and dashboard storytelling for business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3492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50876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2352"/>
                </a:solidFill>
              </a:defRPr>
            </a:pPr>
            <a:r>
              <a:t>Business &amp; Presentation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</a:defRPr>
            </a:pPr>
            <a:r>
              <a:t>• Translate raw retail data into measurable business KPIs.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</a:defRPr>
            </a:pPr>
            <a:r>
              <a:t>• Identify trends, customer concentration and regional opportunities.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</a:defRPr>
            </a:pPr>
            <a:r>
              <a:t>• Present insights clearly and connect findings to business actions.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</a:defRPr>
            </a:pPr>
            <a:r>
              <a:t>• Build an end-to-end analytics workflow from data to decision.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104899" y="-711200"/>
            <a:ext cx="14020800" cy="7327900"/>
          </a:xfrm>
          <a:prstGeom prst="rect">
            <a:avLst/>
          </a:prstGeom>
          <a:solidFill>
            <a:srgbClr val="0A2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8229600" y="-1097280"/>
            <a:ext cx="5029200" cy="5029200"/>
          </a:xfrm>
          <a:prstGeom prst="arc">
            <a:avLst/>
          </a:prstGeom>
          <a:noFill/>
          <a:ln w="101600">
            <a:solidFill>
              <a:srgbClr val="1C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79600" y="1577340"/>
            <a:ext cx="7188200" cy="23545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0A2352"/>
                </a:solidFill>
              </a:defRPr>
            </a:pPr>
            <a:r>
              <a:rPr lang="en-US" dirty="0" smtClean="0"/>
              <a:t>Q&amp;A</a:t>
            </a:r>
          </a:p>
          <a:p>
            <a:pPr algn="ctr">
              <a:defRPr sz="4400" b="1">
                <a:solidFill>
                  <a:srgbClr val="0A2352"/>
                </a:solidFill>
              </a:defRPr>
            </a:pPr>
            <a:r>
              <a:rPr lang="en-US" sz="2400" dirty="0" smtClean="0"/>
              <a:t>Questions &amp; Discussions</a:t>
            </a:r>
          </a:p>
          <a:p>
            <a:pPr algn="ctr">
              <a:defRPr sz="4400" b="1">
                <a:solidFill>
                  <a:srgbClr val="0A2352"/>
                </a:solidFill>
              </a:defRPr>
            </a:pPr>
            <a:r>
              <a:rPr lang="en-US" sz="2400" dirty="0" smtClean="0"/>
              <a:t>THANK YOU</a:t>
            </a:r>
            <a:endParaRPr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476500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431</Words>
  <Application>Microsoft Office PowerPoint</Application>
  <PresentationFormat>Custom</PresentationFormat>
  <Paragraphs>67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dc:description>generated using python-pptx</dc:description>
  <cp:lastModifiedBy>Admin</cp:lastModifiedBy>
  <cp:revision>4</cp:revision>
  <dcterms:created xsi:type="dcterms:W3CDTF">2013-01-27T09:14:16Z</dcterms:created>
  <dcterms:modified xsi:type="dcterms:W3CDTF">2026-08-15T12:22:54Z</dcterms:modified>
</cp:coreProperties>
</file>